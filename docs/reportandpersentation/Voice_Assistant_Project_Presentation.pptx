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16E18A-9A2A-4410-B3BF-AA73C19FA2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B416F0-9622-4A02-877E-3967352D32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7FCDF-9271-410F-97A6-8335252C55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199F8-943A-4618-A0B1-25BC1BD006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1F0381-A5F0-49A9-9553-23ECF317D5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C3337C-756B-4DB5-953C-AD150B9AC5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798BF-EB3E-4E96-B6DC-B8EA558653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1FC18A-F766-4499-8A9E-6E86838DB4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11EBD-A93E-4C83-9E8E-112F7837BC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BE2D09-F051-4825-AEC5-BC508979E8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F6A2D-549F-4B1B-A2F5-DDF25FA63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FB029D-D2C7-423A-960B-5F447B6037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9AE4D6-1EF2-4897-ABED-F040B8CE6E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90C056-CFAD-480D-9AED-753A33543C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880"/>
            <a:ext cx="11155680" cy="360"/>
          </a:xfrm>
          <a:prstGeom prst="line">
            <a:avLst/>
          </a:prstGeom>
          <a:ln w="12700">
            <a:solidFill>
              <a:srgbClr val="D4D8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6510600"/>
            <a:ext cx="8686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New Mansoura University  |  AI &amp; Robotics Summer Field Training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52760" y="651060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Voice Assistant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E3066B6-C14A-42D2-B786-D7F68BF3BEED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assets/image2.png"/>
          <p:cNvPicPr/>
          <p:nvPr/>
        </p:nvPicPr>
        <p:blipFill>
          <a:blip r:embed="rId1"/>
          <a:stretch/>
        </p:blipFill>
        <p:spPr>
          <a:xfrm>
            <a:off x="4526280" y="567000"/>
            <a:ext cx="315432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Image 1" descr="/mnt/data/assets/image1.png"/>
          <p:cNvPicPr/>
          <p:nvPr/>
        </p:nvPicPr>
        <p:blipFill>
          <a:blip r:embed="rId2"/>
          <a:stretch/>
        </p:blipFill>
        <p:spPr>
          <a:xfrm>
            <a:off x="5505840" y="1978560"/>
            <a:ext cx="1023840" cy="89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0"/>
          <p:cNvSpPr/>
          <p:nvPr/>
        </p:nvSpPr>
        <p:spPr>
          <a:xfrm>
            <a:off x="1051560" y="3301920"/>
            <a:ext cx="10103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BILINGUAL VOICE ASSISTANT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2011680" y="4006080"/>
            <a:ext cx="8137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Backend + Flutter GUI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2194560" y="4372920"/>
            <a:ext cx="7772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AI &amp; Robotics Summer Field Training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3678120" y="5013720"/>
            <a:ext cx="1462680" cy="383760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751200" y="5068440"/>
            <a:ext cx="1316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Arabic + English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5324040" y="5013720"/>
            <a:ext cx="1599840" cy="383760"/>
          </a:xfrm>
          <a:prstGeom prst="roundRect">
            <a:avLst>
              <a:gd name="adj" fmla="val 11905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397120" y="5068440"/>
            <a:ext cx="1453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Local LLM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7107120" y="5013720"/>
            <a:ext cx="1645560" cy="383760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180200" y="5068440"/>
            <a:ext cx="1499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Flutter GUI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0DAE947-34DD-4B11-9772-161103A6FE02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Project Motivation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Why a small bilingual desktop assistant is useful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94360" y="129852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594360" y="1298520"/>
            <a:ext cx="63720" cy="1416960"/>
          </a:xfrm>
          <a:prstGeom prst="rect">
            <a:avLst/>
          </a:prstGeom>
          <a:solidFill>
            <a:srgbClr val="A61E26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58880" y="14173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User challenge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758880" y="1737360"/>
            <a:ext cx="317268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Short voice commands are variable, bilingual, and often code-switched. A rigid command syntax makes a desktop assistant harder to use.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4389120" y="129852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4389120" y="1298520"/>
            <a:ext cx="63720" cy="141696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4553640" y="14173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Engineering challenge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4553640" y="1737360"/>
            <a:ext cx="317268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The system must combine probabilistic speech/language understanding with deterministic desktop actions and clear failure handling.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1"/>
          <p:cNvSpPr/>
          <p:nvPr/>
        </p:nvSpPr>
        <p:spPr>
          <a:xfrm>
            <a:off x="8183880" y="129852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8183880" y="1298520"/>
            <a:ext cx="63720" cy="1416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8348400" y="14173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Training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348400" y="1737360"/>
            <a:ext cx="317268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The project demonstrates an end-to-end AI software system: audio, STT, NLP, local inference, actions, TTS, GUI integration, testing, and CI.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658440" y="30632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Target interaction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713160" y="3520440"/>
            <a:ext cx="420120" cy="42012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713160" y="359352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1280160" y="34657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Speak / 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1280160" y="37306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English, Arabic, or code-switched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3026520" y="3730680"/>
            <a:ext cx="365760" cy="360"/>
          </a:xfrm>
          <a:prstGeom prst="line">
            <a:avLst/>
          </a:prstGeom>
          <a:ln w="2540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1"/>
          <p:cNvSpPr/>
          <p:nvPr/>
        </p:nvSpPr>
        <p:spPr>
          <a:xfrm>
            <a:off x="3502080" y="3520440"/>
            <a:ext cx="420120" cy="42012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3502080" y="359352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4069080" y="34657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Understand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4069080" y="37306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STT + local intent parsing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5"/>
          <p:cNvSpPr/>
          <p:nvPr/>
        </p:nvSpPr>
        <p:spPr>
          <a:xfrm>
            <a:off x="5815440" y="3730680"/>
            <a:ext cx="365760" cy="360"/>
          </a:xfrm>
          <a:prstGeom prst="line">
            <a:avLst/>
          </a:prstGeom>
          <a:ln w="2540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6"/>
          <p:cNvSpPr/>
          <p:nvPr/>
        </p:nvSpPr>
        <p:spPr>
          <a:xfrm>
            <a:off x="6291000" y="3520440"/>
            <a:ext cx="420120" cy="42012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6291000" y="359352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6858000" y="34657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Act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9"/>
          <p:cNvSpPr/>
          <p:nvPr/>
        </p:nvSpPr>
        <p:spPr>
          <a:xfrm>
            <a:off x="6858000" y="37306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Desktop utility action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0"/>
          <p:cNvSpPr/>
          <p:nvPr/>
        </p:nvSpPr>
        <p:spPr>
          <a:xfrm>
            <a:off x="8604360" y="3730680"/>
            <a:ext cx="365760" cy="360"/>
          </a:xfrm>
          <a:prstGeom prst="line">
            <a:avLst/>
          </a:prstGeom>
          <a:ln w="2540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1"/>
          <p:cNvSpPr/>
          <p:nvPr/>
        </p:nvSpPr>
        <p:spPr>
          <a:xfrm>
            <a:off x="9079920" y="3520440"/>
            <a:ext cx="420120" cy="420120"/>
          </a:xfrm>
          <a:prstGeom prst="ellipse">
            <a:avLst/>
          </a:prstGeom>
          <a:solidFill>
            <a:srgbClr val="A61E26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9079920" y="359352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3"/>
          <p:cNvSpPr/>
          <p:nvPr/>
        </p:nvSpPr>
        <p:spPr>
          <a:xfrm>
            <a:off x="9646920" y="34657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Respond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4"/>
          <p:cNvSpPr/>
          <p:nvPr/>
        </p:nvSpPr>
        <p:spPr>
          <a:xfrm>
            <a:off x="9646920" y="37306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Text + local TTS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5"/>
          <p:cNvSpPr/>
          <p:nvPr/>
        </p:nvSpPr>
        <p:spPr>
          <a:xfrm>
            <a:off x="658440" y="459036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6"/>
          <p:cNvSpPr/>
          <p:nvPr/>
        </p:nvSpPr>
        <p:spPr>
          <a:xfrm>
            <a:off x="932760" y="4837320"/>
            <a:ext cx="10314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Design principle: keep the intent/action vocabulary small and testable, while using the local LLM to make phrasing more flexible.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6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B8BB388-9487-4F40-B4FB-51E709BDE652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Scope and Supported Capabilities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What the implemented system actually covers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58440" y="126180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Operational intents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658440" y="1664280"/>
            <a:ext cx="4525920" cy="529920"/>
          </a:xfrm>
          <a:prstGeom prst="roundRect">
            <a:avLst>
              <a:gd name="adj" fmla="val 8621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841320" y="17557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get_time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2788920" y="17557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Current 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658440" y="2377440"/>
            <a:ext cx="4525920" cy="52992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41320" y="246888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get_date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2788920" y="246888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Current 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658440" y="3090600"/>
            <a:ext cx="4525920" cy="529920"/>
          </a:xfrm>
          <a:prstGeom prst="roundRect">
            <a:avLst>
              <a:gd name="adj" fmla="val 8621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41320" y="318204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get_sys_info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2788920" y="318204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CPU / memory / disk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658440" y="3803760"/>
            <a:ext cx="4525920" cy="52992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841320" y="38952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open_app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2788920" y="389520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Launch desktop app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>
            <a:off x="658440" y="4517280"/>
            <a:ext cx="4525920" cy="529920"/>
          </a:xfrm>
          <a:prstGeom prst="roundRect">
            <a:avLst>
              <a:gd name="adj" fmla="val 8621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841320" y="46087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web_search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2788920" y="46087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Browser 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5623560" y="126180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Included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5623560" y="166428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5696640" y="171900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Linux desktop operation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5623560" y="232272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5696640" y="237744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Arabic + English speech/text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4"/>
          <p:cNvSpPr/>
          <p:nvPr/>
        </p:nvSpPr>
        <p:spPr>
          <a:xfrm>
            <a:off x="5623560" y="298080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5696640" y="303588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Local Qwen intent parsing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6"/>
          <p:cNvSpPr/>
          <p:nvPr/>
        </p:nvSpPr>
        <p:spPr>
          <a:xfrm>
            <a:off x="5623560" y="363924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5696640" y="369432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Regex + fuzzy fallback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8"/>
          <p:cNvSpPr/>
          <p:nvPr/>
        </p:nvSpPr>
        <p:spPr>
          <a:xfrm>
            <a:off x="8595360" y="166428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8668440" y="171900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Local TTS with fallback chain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0"/>
          <p:cNvSpPr/>
          <p:nvPr/>
        </p:nvSpPr>
        <p:spPr>
          <a:xfrm>
            <a:off x="8595360" y="232272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1"/>
          <p:cNvSpPr/>
          <p:nvPr/>
        </p:nvSpPr>
        <p:spPr>
          <a:xfrm>
            <a:off x="8668440" y="237744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Flutter Voice / Chat / Settings UI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2"/>
          <p:cNvSpPr/>
          <p:nvPr/>
        </p:nvSpPr>
        <p:spPr>
          <a:xfrm>
            <a:off x="8595360" y="298080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8668440" y="303588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Voice enrollment + mic diagnostics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8595360" y="3639240"/>
            <a:ext cx="2742840" cy="438480"/>
          </a:xfrm>
          <a:prstGeom prst="roundRect">
            <a:avLst>
              <a:gd name="adj" fmla="val 10417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5"/>
          <p:cNvSpPr/>
          <p:nvPr/>
        </p:nvSpPr>
        <p:spPr>
          <a:xfrm>
            <a:off x="8668440" y="3694320"/>
            <a:ext cx="259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Automated tests and CI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6"/>
          <p:cNvSpPr/>
          <p:nvPr/>
        </p:nvSpPr>
        <p:spPr>
          <a:xfrm>
            <a:off x="5623560" y="44805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Explicitly excluded / limited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7"/>
          <p:cNvSpPr/>
          <p:nvPr/>
        </p:nvSpPr>
        <p:spPr>
          <a:xfrm>
            <a:off x="5623560" y="4873680"/>
            <a:ext cx="5531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No physical robot platform; no fully offline STT; no broad open-domain conversation; no multi-turn memory.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7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757AA64-1935-41A0-A756-96B11BCF45DB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System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Python owns the AI/action pipeline; Flutter is the client UI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/mnt/data/voice_assistant_assets/architecture.png"/>
          <p:cNvPicPr/>
          <p:nvPr/>
        </p:nvPicPr>
        <p:blipFill>
          <a:blip r:embed="rId3"/>
          <a:stretch/>
        </p:blipFill>
        <p:spPr>
          <a:xfrm>
            <a:off x="658440" y="1261800"/>
            <a:ext cx="10899360" cy="459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3"/>
          <p:cNvSpPr/>
          <p:nvPr/>
        </p:nvSpPr>
        <p:spPr>
          <a:xfrm>
            <a:off x="749880" y="594360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Figure: end-to-end architecture reconstructed from the repository modules and GUI protocol.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8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846EE6E-AB10-4AA0-BC30-86DC13C2FBED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AI / NLP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Hybrid intent understanding with a deterministic fallback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2" descr="/mnt/data/voice_assistant_assets/workflow.png"/>
          <p:cNvPicPr/>
          <p:nvPr/>
        </p:nvPicPr>
        <p:blipFill>
          <a:blip r:embed="rId3"/>
          <a:stretch/>
        </p:blipFill>
        <p:spPr>
          <a:xfrm>
            <a:off x="658440" y="1298520"/>
            <a:ext cx="10899360" cy="449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Shape 3"/>
          <p:cNvSpPr/>
          <p:nvPr/>
        </p:nvSpPr>
        <p:spPr>
          <a:xfrm>
            <a:off x="822960" y="5650920"/>
            <a:ext cx="3062880" cy="511560"/>
          </a:xfrm>
          <a:prstGeom prst="roundRect">
            <a:avLst>
              <a:gd name="adj" fmla="val 8929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932760" y="57607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Primary semantic parser: local Qwen2.5-1.5B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4160520" y="5650920"/>
            <a:ext cx="3245760" cy="511560"/>
          </a:xfrm>
          <a:prstGeom prst="roundRect">
            <a:avLst>
              <a:gd name="adj" fmla="val 8929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4270320" y="5760720"/>
            <a:ext cx="302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Fallback: Arabic/English regex + fuzzy matching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7699320" y="5650920"/>
            <a:ext cx="3245760" cy="511560"/>
          </a:xfrm>
          <a:prstGeom prst="roundRect">
            <a:avLst>
              <a:gd name="adj" fmla="val 8929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7799760" y="5760720"/>
            <a:ext cx="302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Confidence threshold: 0.7 for the LLM path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9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B3A62AA-114A-4FF9-BB80-C443F6D29035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Backend Implementation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Python modules and their responsibilities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640080" y="1298520"/>
            <a:ext cx="10926720" cy="712800"/>
          </a:xfrm>
          <a:prstGeom prst="roundRect">
            <a:avLst>
              <a:gd name="adj" fmla="val 512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50320" y="142632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STT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2039040" y="14083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sounddevice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800600" y="138996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16 kHz mono capture; Gemini 3.5 Transcribe; ar-EG / en-US mapping; retry on rate limits.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640080" y="2176200"/>
            <a:ext cx="1092672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850320" y="23043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LLM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2039040" y="22860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llama-cpp-python + Qwen2.5-1.5B GGUF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4800600" y="226764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Local semantic intent parsing; structured JSON; low-temperature inference.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640080" y="3054240"/>
            <a:ext cx="10926720" cy="712800"/>
          </a:xfrm>
          <a:prstGeom prst="roundRect">
            <a:avLst>
              <a:gd name="adj" fmla="val 512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850320" y="31820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Fallback NLP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2039040" y="31636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regex + SequenceMatcher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4800600" y="314568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config/intents.json; language-specific patterns; entity extraction; fuzzy matching.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640080" y="3931920"/>
            <a:ext cx="1092672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850320" y="406008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2039040" y="40417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psutil + subprocess + webbrowser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4800600" y="402336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Time/date/system info; desktop app launch; browser search; install suggestions.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>
            <a:off x="640080" y="4809600"/>
            <a:ext cx="10926720" cy="712800"/>
          </a:xfrm>
          <a:prstGeom prst="roundRect">
            <a:avLst>
              <a:gd name="adj" fmla="val 512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850320" y="49377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TTS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2039040" y="49194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Piper -&gt; pyttsx3 -&gt; print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4800600" y="490104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Local Arabic/English speech synthesis with fallback behavior.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841320" y="5833800"/>
            <a:ext cx="2148480" cy="402120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914400" y="588888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&gt;= 3.11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5"/>
          <p:cNvSpPr/>
          <p:nvPr/>
        </p:nvSpPr>
        <p:spPr>
          <a:xfrm>
            <a:off x="3246120" y="5833800"/>
            <a:ext cx="2148480" cy="402120"/>
          </a:xfrm>
          <a:prstGeom prst="roundRect">
            <a:avLst>
              <a:gd name="adj" fmla="val 11364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6"/>
          <p:cNvSpPr/>
          <p:nvPr/>
        </p:nvSpPr>
        <p:spPr>
          <a:xfrm>
            <a:off x="3319200" y="588888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Click CLI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7"/>
          <p:cNvSpPr/>
          <p:nvPr/>
        </p:nvSpPr>
        <p:spPr>
          <a:xfrm>
            <a:off x="5650920" y="5833800"/>
            <a:ext cx="2148480" cy="402120"/>
          </a:xfrm>
          <a:prstGeom prst="roundRect">
            <a:avLst>
              <a:gd name="adj" fmla="val 11364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8"/>
          <p:cNvSpPr/>
          <p:nvPr/>
        </p:nvSpPr>
        <p:spPr>
          <a:xfrm>
            <a:off x="5724000" y="588888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Pydantic config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9"/>
          <p:cNvSpPr/>
          <p:nvPr/>
        </p:nvSpPr>
        <p:spPr>
          <a:xfrm>
            <a:off x="8055720" y="5833800"/>
            <a:ext cx="3062880" cy="402120"/>
          </a:xfrm>
          <a:prstGeom prst="roundRect">
            <a:avLst>
              <a:gd name="adj" fmla="val 11364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0"/>
          <p:cNvSpPr/>
          <p:nvPr/>
        </p:nvSpPr>
        <p:spPr>
          <a:xfrm>
            <a:off x="8129160" y="5888880"/>
            <a:ext cx="2916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Ruff + mypy + pytest + CI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10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994D0C0-2106-484A-BF42-7B6758D333E9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Flutter GUI and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The GUI reuses the Python backend rather than duplicating business logic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658440" y="1334880"/>
            <a:ext cx="10899360" cy="42973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960120" y="157284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Flutter &lt;-&gt; Python GUI Protocol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1170360" y="2377440"/>
            <a:ext cx="2669760" cy="2239920"/>
          </a:xfrm>
          <a:prstGeom prst="roundRect">
            <a:avLst>
              <a:gd name="adj" fmla="val 3265"/>
            </a:avLst>
          </a:prstGeom>
          <a:solidFill>
            <a:srgbClr val="EAF1F8"/>
          </a:solidFill>
          <a:ln w="1905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1444680" y="260604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Flutter GUI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444680" y="2944440"/>
            <a:ext cx="212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CliService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1417320" y="3401640"/>
            <a:ext cx="217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Voice / Chat / Settings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Enrollment / Mic 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4270320" y="2057400"/>
            <a:ext cx="3657240" cy="2907360"/>
          </a:xfrm>
          <a:prstGeom prst="roundRect">
            <a:avLst>
              <a:gd name="adj" fmla="val 2516"/>
            </a:avLst>
          </a:prstGeom>
          <a:solidFill>
            <a:srgbClr val="EFF2F5"/>
          </a:solidFill>
          <a:ln w="1905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4553640" y="226764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One JSON object per 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4553640" y="2651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stdin commands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6062400" y="2651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stdout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4553640" y="2999160"/>
            <a:ext cx="1352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voice_command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4553640" y="3310200"/>
            <a:ext cx="1352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text_command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4553640" y="3620880"/>
            <a:ext cx="1352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test_mic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4553640" y="3931920"/>
            <a:ext cx="1352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settings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4553640" y="4242960"/>
            <a:ext cx="1352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enroll_*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6062400" y="299916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status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6062400" y="331020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transcription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6062400" y="362088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response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1"/>
          <p:cNvSpPr/>
          <p:nvPr/>
        </p:nvSpPr>
        <p:spPr>
          <a:xfrm>
            <a:off x="6062400" y="393192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tts_playing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6062400" y="424296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mic_test_result / enroll_state / error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4617720" y="4590360"/>
            <a:ext cx="294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stdin -&gt; command   |   stdout -&gt; event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4"/>
          <p:cNvSpPr/>
          <p:nvPr/>
        </p:nvSpPr>
        <p:spPr>
          <a:xfrm>
            <a:off x="8357760" y="2377440"/>
            <a:ext cx="2669760" cy="2239920"/>
          </a:xfrm>
          <a:prstGeom prst="roundRect">
            <a:avLst>
              <a:gd name="adj" fmla="val 3265"/>
            </a:avLst>
          </a:prstGeom>
          <a:solidFill>
            <a:srgbClr val="F7E9EA"/>
          </a:solidFill>
          <a:ln w="1905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5"/>
          <p:cNvSpPr/>
          <p:nvPr/>
        </p:nvSpPr>
        <p:spPr>
          <a:xfrm>
            <a:off x="8632080" y="260604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Python Backend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6"/>
          <p:cNvSpPr/>
          <p:nvPr/>
        </p:nvSpPr>
        <p:spPr>
          <a:xfrm>
            <a:off x="8632080" y="2944440"/>
            <a:ext cx="212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GuiSession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7"/>
          <p:cNvSpPr/>
          <p:nvPr/>
        </p:nvSpPr>
        <p:spPr>
          <a:xfrm>
            <a:off x="8595360" y="3456360"/>
            <a:ext cx="2194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STT / LLM / NLP / Actions / TTS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8"/>
          <p:cNvSpPr/>
          <p:nvPr/>
        </p:nvSpPr>
        <p:spPr>
          <a:xfrm>
            <a:off x="3858480" y="3492720"/>
            <a:ext cx="393480" cy="360"/>
          </a:xfrm>
          <a:prstGeom prst="line">
            <a:avLst/>
          </a:prstGeom>
          <a:ln w="25400">
            <a:solidFill>
              <a:srgbClr val="2C5D8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9"/>
          <p:cNvSpPr/>
          <p:nvPr/>
        </p:nvSpPr>
        <p:spPr>
          <a:xfrm>
            <a:off x="7936920" y="3492720"/>
            <a:ext cx="393120" cy="360"/>
          </a:xfrm>
          <a:prstGeom prst="line">
            <a:avLst/>
          </a:prstGeom>
          <a:ln w="25400">
            <a:solidFill>
              <a:srgbClr val="A61E2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4343400" y="51390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process + state updates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1"/>
          <p:cNvSpPr/>
          <p:nvPr/>
        </p:nvSpPr>
        <p:spPr>
          <a:xfrm>
            <a:off x="841320" y="5715000"/>
            <a:ext cx="2285640" cy="411120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2"/>
          <p:cNvSpPr/>
          <p:nvPr/>
        </p:nvSpPr>
        <p:spPr>
          <a:xfrm>
            <a:off x="914400" y="5769720"/>
            <a:ext cx="213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Voice / Chat / Settings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3383280" y="5715000"/>
            <a:ext cx="2285640" cy="411120"/>
          </a:xfrm>
          <a:prstGeom prst="roundRect">
            <a:avLst>
              <a:gd name="adj" fmla="val 11111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4"/>
          <p:cNvSpPr/>
          <p:nvPr/>
        </p:nvSpPr>
        <p:spPr>
          <a:xfrm>
            <a:off x="3456360" y="5769720"/>
            <a:ext cx="213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Enrollment / Mic Test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5"/>
          <p:cNvSpPr/>
          <p:nvPr/>
        </p:nvSpPr>
        <p:spPr>
          <a:xfrm>
            <a:off x="5925240" y="5715000"/>
            <a:ext cx="2285640" cy="411120"/>
          </a:xfrm>
          <a:prstGeom prst="roundRect">
            <a:avLst>
              <a:gd name="adj" fmla="val 11111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5998320" y="5769720"/>
            <a:ext cx="213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JSON Lines over stdin/stdout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7"/>
          <p:cNvSpPr/>
          <p:nvPr/>
        </p:nvSpPr>
        <p:spPr>
          <a:xfrm>
            <a:off x="8467200" y="5715000"/>
            <a:ext cx="2331360" cy="411120"/>
          </a:xfrm>
          <a:prstGeom prst="roundRect">
            <a:avLst>
              <a:gd name="adj" fmla="val 11111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8"/>
          <p:cNvSpPr/>
          <p:nvPr/>
        </p:nvSpPr>
        <p:spPr>
          <a:xfrm>
            <a:off x="8540640" y="576972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Logs -&gt; stderr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11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E9662F2-1DC7-4A0F-8DD4-6B85BE758F2B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User Experience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Implemented GUI features and state feedback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658440" y="1417320"/>
            <a:ext cx="345600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658440" y="1417320"/>
            <a:ext cx="63720" cy="1572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822960" y="15361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Voice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822960" y="1856160"/>
            <a:ext cx="32000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Large animated microphone button; Connected / Disconnected status; speaking and processing states.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4434840" y="1417320"/>
            <a:ext cx="345600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4434840" y="1417320"/>
            <a:ext cx="63720" cy="157248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4599360" y="15361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Chat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599360" y="1856160"/>
            <a:ext cx="32000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Text entry, loading animation, assistant/user bubbles, Arabic RTL rendering, selectable responses.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8211240" y="1417320"/>
            <a:ext cx="345600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8211240" y="1417320"/>
            <a:ext cx="63720" cy="1572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8375760" y="15361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Settings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8375760" y="1856160"/>
            <a:ext cx="32000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Input gain 0.01-2.0; Auto Gain; language; theme; CLI path; Auto Start; reset to defaults.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5"/>
          <p:cNvSpPr/>
          <p:nvPr/>
        </p:nvSpPr>
        <p:spPr>
          <a:xfrm>
            <a:off x="658440" y="3447360"/>
            <a:ext cx="3456000" cy="13896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658440" y="3447360"/>
            <a:ext cx="63720" cy="1389600"/>
          </a:xfrm>
          <a:prstGeom prst="rect">
            <a:avLst/>
          </a:prstGeom>
          <a:solidFill>
            <a:srgbClr val="A61E26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822960" y="3566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Enrollment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822960" y="3886200"/>
            <a:ext cx="32000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Six phrases; one-at-a-time recording; silence retry; progress dots; saved enrollment state.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4434840" y="3447360"/>
            <a:ext cx="3456000" cy="13896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4434840" y="3447360"/>
            <a:ext cx="63720" cy="1389600"/>
          </a:xfrm>
          <a:prstGeom prst="rect">
            <a:avLst/>
          </a:prstGeom>
          <a:solidFill>
            <a:srgbClr val="B47714"/>
          </a:solidFill>
          <a:ln w="12700">
            <a:solidFill>
              <a:srgbClr val="B477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4599360" y="3566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47714"/>
                </a:solidFill>
                <a:effectLst/>
                <a:uFillTx/>
                <a:latin typeface="Aptos"/>
              </a:rPr>
              <a:t>Mic 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4599360" y="3886200"/>
            <a:ext cx="32000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Duration, RMS, peak, clipping, language, transcription, assessment, and suggested gain.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822960" y="565092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State is driven by backend events: transcription, response, tts_playing, mic_test_result, enroll_state, status, and error.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sldNum" idx="12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ED214FB-984D-4F8B-AFE3-4731421629AB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Testing and Engineering Quality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What the repositories already 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658440" y="1280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Tested behaviors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658440" y="166428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658440" y="1664280"/>
            <a:ext cx="63720" cy="8499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822960" y="178308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End-to-end loop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822960" y="210312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Mic -&gt; STT -&gt; NLP -&gt; action -&gt; TTS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6144840" y="166428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9"/>
          <p:cNvSpPr/>
          <p:nvPr/>
        </p:nvSpPr>
        <p:spPr>
          <a:xfrm>
            <a:off x="6144840" y="1664280"/>
            <a:ext cx="63720" cy="84996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6309360" y="178308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GUI protocol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6309360" y="210312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JSONL commands, event order, malformed JSON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658440" y="274320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3"/>
          <p:cNvSpPr/>
          <p:nvPr/>
        </p:nvSpPr>
        <p:spPr>
          <a:xfrm>
            <a:off x="658440" y="2743200"/>
            <a:ext cx="63720" cy="8499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822960" y="286200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Error recovery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822960" y="318204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Missing mic, model failure, action/TTS errors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6"/>
          <p:cNvSpPr/>
          <p:nvPr/>
        </p:nvSpPr>
        <p:spPr>
          <a:xfrm>
            <a:off x="6144840" y="274320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7"/>
          <p:cNvSpPr/>
          <p:nvPr/>
        </p:nvSpPr>
        <p:spPr>
          <a:xfrm>
            <a:off x="6144840" y="2743200"/>
            <a:ext cx="63720" cy="84996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6309360" y="286200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Runtime settings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6309360" y="318204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Gain, Auto Gain, language mapping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0"/>
          <p:cNvSpPr/>
          <p:nvPr/>
        </p:nvSpPr>
        <p:spPr>
          <a:xfrm>
            <a:off x="658440" y="382212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1"/>
          <p:cNvSpPr/>
          <p:nvPr/>
        </p:nvSpPr>
        <p:spPr>
          <a:xfrm>
            <a:off x="658440" y="3822120"/>
            <a:ext cx="63720" cy="8499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822960" y="394092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Enrollment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3"/>
          <p:cNvSpPr/>
          <p:nvPr/>
        </p:nvSpPr>
        <p:spPr>
          <a:xfrm>
            <a:off x="822960" y="426096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Start, record, silence, cancel, completion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4"/>
          <p:cNvSpPr/>
          <p:nvPr/>
        </p:nvSpPr>
        <p:spPr>
          <a:xfrm>
            <a:off x="6144840" y="3822120"/>
            <a:ext cx="5074560" cy="84996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5"/>
          <p:cNvSpPr/>
          <p:nvPr/>
        </p:nvSpPr>
        <p:spPr>
          <a:xfrm>
            <a:off x="6144840" y="3822120"/>
            <a:ext cx="63720" cy="84996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6"/>
          <p:cNvSpPr/>
          <p:nvPr/>
        </p:nvSpPr>
        <p:spPr>
          <a:xfrm>
            <a:off x="6309360" y="3940920"/>
            <a:ext cx="481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Mic diagnostics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6309360" y="4260960"/>
            <a:ext cx="481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Required result fields and values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8"/>
          <p:cNvSpPr/>
          <p:nvPr/>
        </p:nvSpPr>
        <p:spPr>
          <a:xfrm>
            <a:off x="658440" y="50839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CI quality gates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9"/>
          <p:cNvSpPr/>
          <p:nvPr/>
        </p:nvSpPr>
        <p:spPr>
          <a:xfrm>
            <a:off x="658440" y="5449680"/>
            <a:ext cx="1965600" cy="420120"/>
          </a:xfrm>
          <a:prstGeom prst="roundRect">
            <a:avLst>
              <a:gd name="adj" fmla="val 10870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0"/>
          <p:cNvSpPr/>
          <p:nvPr/>
        </p:nvSpPr>
        <p:spPr>
          <a:xfrm>
            <a:off x="731520" y="550476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Ruff format/check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1"/>
          <p:cNvSpPr/>
          <p:nvPr/>
        </p:nvSpPr>
        <p:spPr>
          <a:xfrm>
            <a:off x="2853000" y="5449680"/>
            <a:ext cx="1663920" cy="420120"/>
          </a:xfrm>
          <a:prstGeom prst="roundRect">
            <a:avLst>
              <a:gd name="adj" fmla="val 10870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2"/>
          <p:cNvSpPr/>
          <p:nvPr/>
        </p:nvSpPr>
        <p:spPr>
          <a:xfrm>
            <a:off x="2926080" y="550476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mypy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3"/>
          <p:cNvSpPr/>
          <p:nvPr/>
        </p:nvSpPr>
        <p:spPr>
          <a:xfrm>
            <a:off x="4736520" y="5449680"/>
            <a:ext cx="1663920" cy="420120"/>
          </a:xfrm>
          <a:prstGeom prst="roundRect">
            <a:avLst>
              <a:gd name="adj" fmla="val 10870"/>
            </a:avLst>
          </a:prstGeom>
          <a:solidFill>
            <a:srgbClr val="EFF2F5"/>
          </a:solidFill>
          <a:ln w="12700">
            <a:solidFill>
              <a:srgbClr val="EFF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4"/>
          <p:cNvSpPr/>
          <p:nvPr/>
        </p:nvSpPr>
        <p:spPr>
          <a:xfrm>
            <a:off x="4809600" y="5504760"/>
            <a:ext cx="151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pytest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5"/>
          <p:cNvSpPr/>
          <p:nvPr/>
        </p:nvSpPr>
        <p:spPr>
          <a:xfrm>
            <a:off x="6620400" y="5449680"/>
            <a:ext cx="2057040" cy="420120"/>
          </a:xfrm>
          <a:prstGeom prst="roundRect">
            <a:avLst>
              <a:gd name="adj" fmla="val 10870"/>
            </a:avLst>
          </a:prstGeom>
          <a:solidFill>
            <a:srgbClr val="EAF1F8"/>
          </a:solidFill>
          <a:ln w="12700">
            <a:solidFill>
              <a:srgbClr val="EAF1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6"/>
          <p:cNvSpPr/>
          <p:nvPr/>
        </p:nvSpPr>
        <p:spPr>
          <a:xfrm>
            <a:off x="6693480" y="5504760"/>
            <a:ext cx="1910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coverage &gt;= 50%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7"/>
          <p:cNvSpPr/>
          <p:nvPr/>
        </p:nvSpPr>
        <p:spPr>
          <a:xfrm>
            <a:off x="8897040" y="5449680"/>
            <a:ext cx="2057040" cy="420120"/>
          </a:xfrm>
          <a:prstGeom prst="roundRect">
            <a:avLst>
              <a:gd name="adj" fmla="val 10870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8"/>
          <p:cNvSpPr/>
          <p:nvPr/>
        </p:nvSpPr>
        <p:spPr>
          <a:xfrm>
            <a:off x="8970120" y="5504760"/>
            <a:ext cx="1910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package build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9"/>
          <p:cNvSpPr/>
          <p:nvPr/>
        </p:nvSpPr>
        <p:spPr>
          <a:xfrm>
            <a:off x="804600" y="5989320"/>
            <a:ext cx="1042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The repository defines these checks in GitHub Actions; this presentation does not claim an independent test run during report generation.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sldNum" idx="13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444DC6B-3090-49D0-90FE-8CB76F2FE841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Repository-documented latency on the tested configuration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713160" y="1426320"/>
            <a:ext cx="25052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000777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713160" y="1426320"/>
            <a:ext cx="2505240" cy="7272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822960" y="168264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STT target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822960" y="20484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&lt; 1.5 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822960" y="2468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Network/API dependent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3502080" y="1426320"/>
            <a:ext cx="25052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000777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3502080" y="1426320"/>
            <a:ext cx="2505240" cy="727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3611880" y="168264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Local LLM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3611880" y="20484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~ 300 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3611880" y="2468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Qwen2.5-1.5B, int4 CUDA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6291000" y="1426320"/>
            <a:ext cx="25052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000777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6291000" y="1426320"/>
            <a:ext cx="2505240" cy="72720"/>
          </a:xfrm>
          <a:prstGeom prst="rect">
            <a:avLst/>
          </a:prstGeom>
          <a:solidFill>
            <a:srgbClr val="A61E26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6400800" y="168264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Piper TTS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6400800" y="20484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~ 300 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6400800" y="2468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Local synthesis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9079920" y="1426320"/>
            <a:ext cx="25052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000777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9079920" y="1426320"/>
            <a:ext cx="2505240" cy="727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9189720" y="168264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End-to-end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9189720" y="204840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~ 1.5-2.0 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9189720" y="2468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Speech end -&gt; audio start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749880" y="33832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Important 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4"/>
          <p:cNvSpPr/>
          <p:nvPr/>
        </p:nvSpPr>
        <p:spPr>
          <a:xfrm>
            <a:off x="749880" y="3767400"/>
            <a:ext cx="10652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These figures are repository-documented values for a specific environment (including an RTX 3050 Ti 4 GB test configuration). They are useful engineering targets, not universal benchmarks.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5"/>
          <p:cNvSpPr/>
          <p:nvPr/>
        </p:nvSpPr>
        <p:spPr>
          <a:xfrm>
            <a:off x="1024200" y="4800600"/>
            <a:ext cx="932400" cy="4935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1024200" y="4928760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LLM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7"/>
          <p:cNvSpPr/>
          <p:nvPr/>
        </p:nvSpPr>
        <p:spPr>
          <a:xfrm>
            <a:off x="1956960" y="4800600"/>
            <a:ext cx="932400" cy="493560"/>
          </a:xfrm>
          <a:prstGeom prst="rect">
            <a:avLst/>
          </a:prstGeom>
          <a:solidFill>
            <a:srgbClr val="A61E26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8"/>
          <p:cNvSpPr/>
          <p:nvPr/>
        </p:nvSpPr>
        <p:spPr>
          <a:xfrm>
            <a:off x="1956960" y="4928760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2889360" y="4800600"/>
            <a:ext cx="2797560" cy="4935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0"/>
          <p:cNvSpPr/>
          <p:nvPr/>
        </p:nvSpPr>
        <p:spPr>
          <a:xfrm>
            <a:off x="2889360" y="4928760"/>
            <a:ext cx="279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Other / I/O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1005840" y="5422320"/>
            <a:ext cx="6674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Illustrative component view of the documented ~1.5 s lower end; STT/network time varies.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2"/>
          <p:cNvSpPr/>
          <p:nvPr/>
        </p:nvSpPr>
        <p:spPr>
          <a:xfrm>
            <a:off x="8321040" y="4910400"/>
            <a:ext cx="2194200" cy="438480"/>
          </a:xfrm>
          <a:prstGeom prst="roundRect">
            <a:avLst>
              <a:gd name="adj" fmla="val 10417"/>
            </a:avLst>
          </a:prstGeom>
          <a:solidFill>
            <a:srgbClr val="F7E9EA"/>
          </a:solidFill>
          <a:ln w="12700">
            <a:solidFill>
              <a:srgbClr val="F7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3"/>
          <p:cNvSpPr/>
          <p:nvPr/>
        </p:nvSpPr>
        <p:spPr>
          <a:xfrm>
            <a:off x="8394120" y="4965120"/>
            <a:ext cx="2048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Network is the variable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Num" idx="14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E57A847-781B-4E00-BADE-90A572905B4D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Limitations and Next Fixes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Issues found by tracing both repositories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640080" y="1298520"/>
            <a:ext cx="10926720" cy="749520"/>
          </a:xfrm>
          <a:prstGeom prst="roundRect">
            <a:avLst>
              <a:gd name="adj" fmla="val 487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841320" y="141732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Cloud STT only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2743200" y="1380600"/>
            <a:ext cx="3977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Gemini is the current STT provider; speech input is not fully offline.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6729840" y="1380600"/>
            <a:ext cx="449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Next: Add a local STT provider / fallback.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7"/>
          <p:cNvSpPr/>
          <p:nvPr/>
        </p:nvSpPr>
        <p:spPr>
          <a:xfrm>
            <a:off x="640080" y="2231280"/>
            <a:ext cx="10926720" cy="749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841320" y="235008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Dynamic fact correctness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9"/>
          <p:cNvSpPr/>
          <p:nvPr/>
        </p:nvSpPr>
        <p:spPr>
          <a:xfrm>
            <a:off x="2743200" y="2313360"/>
            <a:ext cx="3977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The high-confidence LLM path can return model-generated text for time/date/system info instead of always using the deterministic action result.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"/>
          <p:cNvSpPr/>
          <p:nvPr/>
        </p:nvSpPr>
        <p:spPr>
          <a:xfrm>
            <a:off x="6729840" y="2313360"/>
            <a:ext cx="449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Next: Route dynamic facts through local actions; use LLM for phrasing.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1"/>
          <p:cNvSpPr/>
          <p:nvPr/>
        </p:nvSpPr>
        <p:spPr>
          <a:xfrm>
            <a:off x="640080" y="3163680"/>
            <a:ext cx="10926720" cy="749520"/>
          </a:xfrm>
          <a:prstGeom prst="roundRect">
            <a:avLst>
              <a:gd name="adj" fmla="val 487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2"/>
          <p:cNvSpPr/>
          <p:nvPr/>
        </p:nvSpPr>
        <p:spPr>
          <a:xfrm>
            <a:off x="841320" y="328284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GUI mic-test contract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3"/>
          <p:cNvSpPr/>
          <p:nvPr/>
        </p:nvSpPr>
        <p:spPr>
          <a:xfrm>
            <a:off x="2743200" y="3246120"/>
            <a:ext cx="3977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Flutter serializes test duration in the text field and does not serialize gain as explicit protocol fields expected by Python.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6729840" y="3246120"/>
            <a:ext cx="449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Next: Align the command model and protocol schema.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640080" y="4096440"/>
            <a:ext cx="10926720" cy="749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841320" y="421524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Auto Start behavior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2743200" y="4178880"/>
            <a:ext cx="3977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The preference is persisted, but HomePage currently starts the CLI during initialization regardless of the stored value.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6729840" y="4178880"/>
            <a:ext cx="449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Next: Make startup honor the saved setting.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640080" y="5029200"/>
            <a:ext cx="10926720" cy="749520"/>
          </a:xfrm>
          <a:prstGeom prst="roundRect">
            <a:avLst>
              <a:gd name="adj" fmla="val 4878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0"/>
          <p:cNvSpPr/>
          <p:nvPr/>
        </p:nvSpPr>
        <p:spPr>
          <a:xfrm>
            <a:off x="841320" y="514800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47714"/>
                </a:solidFill>
                <a:effectLst/>
                <a:uFillTx/>
                <a:latin typeface="Aptos"/>
              </a:rPr>
              <a:t>Install confirmation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1"/>
          <p:cNvSpPr/>
          <p:nvPr/>
        </p:nvSpPr>
        <p:spPr>
          <a:xfrm>
            <a:off x="2743200" y="5111640"/>
            <a:ext cx="3977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Backend has a confirmation parameter/background install path, but the GUI protocol has no full confirmation dialog flow.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6729840" y="5111640"/>
            <a:ext cx="449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Next: Add explicit confirmation UX for side-effecting installs.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15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E13BA55-A476-445C-AD87-9905E13D3A3D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Conclusion and Demo 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A compact, integrated AI software system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658440" y="12985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Demo sequence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65844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F7E9EA"/>
          </a:solidFill>
          <a:ln w="12700">
            <a:solidFill>
              <a:srgbClr val="A61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73152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61E26"/>
                </a:solidFill>
                <a:effectLst/>
                <a:uFillTx/>
                <a:latin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100584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Launch GUI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2258280" y="2002320"/>
            <a:ext cx="219600" cy="360"/>
          </a:xfrm>
          <a:prstGeom prst="line">
            <a:avLst/>
          </a:prstGeom>
          <a:ln w="2032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250560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257868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285300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Tap mic / type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4105440" y="2002320"/>
            <a:ext cx="219600" cy="360"/>
          </a:xfrm>
          <a:prstGeom prst="line">
            <a:avLst/>
          </a:prstGeom>
          <a:ln w="2032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435240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442584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470016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Gemini STT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5952600" y="2002320"/>
            <a:ext cx="219600" cy="360"/>
          </a:xfrm>
          <a:prstGeom prst="line">
            <a:avLst/>
          </a:prstGeom>
          <a:ln w="2032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619956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627264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654696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Qwen + fallback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7799760" y="2002320"/>
            <a:ext cx="219240" cy="360"/>
          </a:xfrm>
          <a:prstGeom prst="line">
            <a:avLst/>
          </a:prstGeom>
          <a:ln w="2032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804672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811980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839412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Desktop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9646920" y="2002320"/>
            <a:ext cx="219240" cy="360"/>
          </a:xfrm>
          <a:prstGeom prst="line">
            <a:avLst/>
          </a:prstGeom>
          <a:ln w="20320">
            <a:solidFill>
              <a:srgbClr val="D6DCE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4"/>
          <p:cNvSpPr/>
          <p:nvPr/>
        </p:nvSpPr>
        <p:spPr>
          <a:xfrm>
            <a:off x="9893880" y="1682640"/>
            <a:ext cx="159084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5"/>
          <p:cNvSpPr/>
          <p:nvPr/>
        </p:nvSpPr>
        <p:spPr>
          <a:xfrm>
            <a:off x="9966960" y="1819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6"/>
          <p:cNvSpPr/>
          <p:nvPr/>
        </p:nvSpPr>
        <p:spPr>
          <a:xfrm>
            <a:off x="10241280" y="1792080"/>
            <a:ext cx="1115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Response + TTS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658440" y="2788920"/>
            <a:ext cx="342864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658440" y="2788920"/>
            <a:ext cx="63720" cy="14443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9"/>
          <p:cNvSpPr/>
          <p:nvPr/>
        </p:nvSpPr>
        <p:spPr>
          <a:xfrm>
            <a:off x="822960" y="29077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Technical outcome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0"/>
          <p:cNvSpPr/>
          <p:nvPr/>
        </p:nvSpPr>
        <p:spPr>
          <a:xfrm>
            <a:off x="822960" y="3227760"/>
            <a:ext cx="31726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The backend cleanly separates STT, semantic parsing, deterministic fallback, actions, and TTS.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1"/>
          <p:cNvSpPr/>
          <p:nvPr/>
        </p:nvSpPr>
        <p:spPr>
          <a:xfrm>
            <a:off x="4389120" y="2788920"/>
            <a:ext cx="342864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4389120" y="2788920"/>
            <a:ext cx="63720" cy="1444320"/>
          </a:xfrm>
          <a:prstGeom prst="rect">
            <a:avLst/>
          </a:prstGeom>
          <a:solidFill>
            <a:srgbClr val="2C5D8A"/>
          </a:solidFill>
          <a:ln w="12700">
            <a:solidFill>
              <a:srgbClr val="2C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3"/>
          <p:cNvSpPr/>
          <p:nvPr/>
        </p:nvSpPr>
        <p:spPr>
          <a:xfrm>
            <a:off x="4553640" y="29077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C5D8A"/>
                </a:solidFill>
                <a:effectLst/>
                <a:uFillTx/>
                <a:latin typeface="Aptos"/>
              </a:rPr>
              <a:t>Integration outcome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4"/>
          <p:cNvSpPr/>
          <p:nvPr/>
        </p:nvSpPr>
        <p:spPr>
          <a:xfrm>
            <a:off x="4553640" y="3227760"/>
            <a:ext cx="31726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Flutter consumes the same backend through a small JSON-lines process protocol and state/event streams.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5"/>
          <p:cNvSpPr/>
          <p:nvPr/>
        </p:nvSpPr>
        <p:spPr>
          <a:xfrm>
            <a:off x="8119800" y="2788920"/>
            <a:ext cx="3428640" cy="144432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CE3"/>
            </a:solidFill>
            <a:round/>
          </a:ln>
          <a:effectLst>
            <a:outerShdw algn="bl" blurRad="12600" dir="2700000" dist="50402" kx="0" ky="0" rotWithShape="0" sx="100000" sy="100000">
              <a:srgbClr val="777777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6"/>
          <p:cNvSpPr/>
          <p:nvPr/>
        </p:nvSpPr>
        <p:spPr>
          <a:xfrm>
            <a:off x="8119800" y="2788920"/>
            <a:ext cx="63720" cy="144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8284320" y="29077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7C59"/>
                </a:solidFill>
                <a:effectLst/>
                <a:uFillTx/>
                <a:latin typeface="Aptos"/>
              </a:rPr>
              <a:t>Learning outcome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8284320" y="3227760"/>
            <a:ext cx="31726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Python architecture, local inference, bilingual NLP, process integration, Flutter state management, testing, and CI.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9"/>
          <p:cNvSpPr/>
          <p:nvPr/>
        </p:nvSpPr>
        <p:spPr>
          <a:xfrm>
            <a:off x="1115640" y="4645080"/>
            <a:ext cx="9856800" cy="849960"/>
          </a:xfrm>
          <a:prstGeom prst="roundRect">
            <a:avLst>
              <a:gd name="adj" fmla="val 8602"/>
            </a:avLst>
          </a:prstGeom>
          <a:solidFill>
            <a:srgbClr val="EFF2F5"/>
          </a:solidFill>
          <a:ln w="12700">
            <a:solidFill>
              <a:srgbClr val="D6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0"/>
          <p:cNvSpPr/>
          <p:nvPr/>
        </p:nvSpPr>
        <p:spPr>
          <a:xfrm>
            <a:off x="1417320" y="4864680"/>
            <a:ext cx="9235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Core message: useful desktop voice interaction comes from integrating probabilistic understanding with deterministic execution and robust software interfaces.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2"/>
          <p:cNvSpPr/>
          <p:nvPr/>
        </p:nvSpPr>
        <p:spPr>
          <a:xfrm>
            <a:off x="2514600" y="5970960"/>
            <a:ext cx="7177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sldNum" idx="16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3038873-BFF7-4B9F-97A3-2A9A5FE477EB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Image 0" descr="/mnt/data/assets/image1.png"/>
          <p:cNvPicPr/>
          <p:nvPr/>
        </p:nvPicPr>
        <p:blipFill>
          <a:blip r:embed="rId1"/>
          <a:stretch/>
        </p:blipFill>
        <p:spPr>
          <a:xfrm>
            <a:off x="137160" y="201240"/>
            <a:ext cx="502560" cy="42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Image 1" descr="/mnt/data/assets/image2.png"/>
          <p:cNvPicPr/>
          <p:nvPr/>
        </p:nvPicPr>
        <p:blipFill>
          <a:blip r:embed="rId2"/>
          <a:stretch/>
        </p:blipFill>
        <p:spPr>
          <a:xfrm>
            <a:off x="10497240" y="182880"/>
            <a:ext cx="1170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 0"/>
          <p:cNvSpPr/>
          <p:nvPr/>
        </p:nvSpPr>
        <p:spPr>
          <a:xfrm>
            <a:off x="658440" y="43884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A61E26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1051560" y="402480"/>
            <a:ext cx="9326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252B"/>
                </a:solidFill>
                <a:effectLst/>
                <a:uFillTx/>
                <a:latin typeface="Aptos Display"/>
                <a:ea typeface="Aptos Display"/>
              </a:rPr>
              <a:t>References and Source Basis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"/>
          <p:cNvSpPr/>
          <p:nvPr/>
        </p:nvSpPr>
        <p:spPr>
          <a:xfrm>
            <a:off x="1060560" y="850320"/>
            <a:ext cx="9509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Project repositories + related technical documentation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804600" y="143280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[1] Rasa, "Intents and Entities," Rasa Documentation. https://rasa.com/docs/reference/primitives/intents-and-entities/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804600" y="193644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[2] Rhasspy, "Intent Handling," project documentation. https://github.com/rhasspy/rhasspy/blob/master/docs/intent-handling.md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804600" y="247572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[3] OpenVoiceOS, project documentation. https://github.com/OpenVoiceOS/OpenVoiceOS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804600" y="297936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[4] Qwen Team, "Qwen2.5-1.5B-Instruct," Hugging Face model card, 2024. https://huggingface.co/Qwen/Qwen2.5-1.5B-Instruct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804600" y="351900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[5] Open Home Foundation, "Piper: Fast and local neural text-to-speech engine." https://github.com/OHF-Voice/piper1-gpl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804600" y="4094280"/>
            <a:ext cx="10560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0252B"/>
                </a:solidFill>
                <a:effectLst/>
                <a:uFillTx/>
                <a:latin typeface="Aptos"/>
              </a:rPr>
              <a:t>[6] Flutter, "shared_preferences," package documentation. https://pub.dev/packages/shared_preferences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804600" y="5897880"/>
            <a:ext cx="10560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07A"/>
                </a:solidFill>
                <a:effectLst/>
                <a:uFillTx/>
                <a:latin typeface="Aptos"/>
              </a:rPr>
              <a:t>Access date for online sources: 28 August 2026.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sldNum" idx="17"/>
          </p:nvPr>
        </p:nvSpPr>
        <p:spPr>
          <a:xfrm>
            <a:off x="11667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FE88CF3-11DF-4CB8-B86F-C6E8B1D73C01}" type="slidenum">
              <a:rPr lang="en-US" sz="800" b="0" u="none" strike="noStrike">
                <a:solidFill>
                  <a:srgbClr val="6C727A"/>
                </a:solidFill>
                <a:effectLst/>
                <a:uFillTx/>
                <a:latin typeface="Aptos"/>
                <a:ea typeface="Aptos"/>
              </a:rPr>
              <a:t>13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LibreOffice_project/620$Build-2</Application>
  <AppVersion>15.0000</AppVersion>
  <Words>0</Words>
  <Paragraphs>0</Paragraphs>
  <Company>New Mansoura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2026-08-28T20:58:39Z</dcterms:created>
  <dc:creator>New Mansoura University AI &amp; Robotics Summer Field Training</dc:creator>
  <dc:description/>
  <dc:language>en-US</dc:language>
  <cp:lastModifiedBy/>
  <dcterms:modified xsi:type="dcterms:W3CDTF">2026-08-29T02:28:35Z</dcterms:modified>
  <cp:revision>3</cp:revision>
  <dc:subject>Bilingual Voice Assistant with Python Backend and Flutter GUI</dc:subject>
  <dc:title>Bilingual Voice Assistant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